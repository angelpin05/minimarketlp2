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a7deba8ad440d9" /><Relationship Type="http://schemas.openxmlformats.org/officeDocument/2006/relationships/extended-properties" Target="/docProps/app.xml" Id="Ra85bb2a2808f4b92" /><Relationship Type="http://schemas.openxmlformats.org/officeDocument/2006/relationships/officeDocument" Target="/ppt/presentation.xml" Id="R079084ec075247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8c8d4f80ef41e7"/>
  </p:sldMasterIdLst>
  <p:notesMasterIdLst>
    <p:notesMasterId xmlns:r="http://schemas.openxmlformats.org/officeDocument/2006/relationships" r:id="Rdc114214dee54aef"/>
  </p:notesMasterIdLst>
  <p:sldIdLst>
    <p:sldId xmlns:r="http://schemas.openxmlformats.org/officeDocument/2006/relationships" id="256" r:id="R31797b093ec84e8e"/>
    <p:sldId xmlns:r="http://schemas.openxmlformats.org/officeDocument/2006/relationships" id="257" r:id="R8dfa751e4a434038"/>
    <p:sldId xmlns:r="http://schemas.openxmlformats.org/officeDocument/2006/relationships" id="258" r:id="R405f5dca43d94374"/>
    <p:sldId xmlns:r="http://schemas.openxmlformats.org/officeDocument/2006/relationships" id="259" r:id="Rb027dfe14f0342fe"/>
    <p:sldId xmlns:r="http://schemas.openxmlformats.org/officeDocument/2006/relationships" id="260" r:id="R6fcf3a62cddf478c"/>
    <p:sldId xmlns:r="http://schemas.openxmlformats.org/officeDocument/2006/relationships" id="261" r:id="Rb783f76e459c45a9"/>
    <p:sldId xmlns:r="http://schemas.openxmlformats.org/officeDocument/2006/relationships" id="262" r:id="R19042d9a1ce04d60"/>
    <p:sldId xmlns:r="http://schemas.openxmlformats.org/officeDocument/2006/relationships" id="263" r:id="R9e5fc5e4b2f147b7"/>
    <p:sldId xmlns:r="http://schemas.openxmlformats.org/officeDocument/2006/relationships" id="264" r:id="Rc358a473e9c54a89"/>
    <p:sldId xmlns:r="http://schemas.openxmlformats.org/officeDocument/2006/relationships" id="265" r:id="R8cf7d75a03b142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818c84361b4834" /><Relationship Type="http://schemas.openxmlformats.org/officeDocument/2006/relationships/slideMaster" Target="/ppt/slideMasters/slideMaster1.xml" Id="Rc08c8d4f80ef41e7" /><Relationship Type="http://schemas.openxmlformats.org/officeDocument/2006/relationships/notesMaster" Target="/ppt/notesMasters/notesMaster1.xml" Id="Rdc114214dee54aef" /><Relationship Type="http://schemas.openxmlformats.org/officeDocument/2006/relationships/presProps" Target="/ppt/presProps.xml" Id="Rbfb65afb472747f6" /><Relationship Type="http://schemas.openxmlformats.org/officeDocument/2006/relationships/tableStyles" Target="/ppt/tableStyles.xml" Id="Rd7463ebdb51c4c98" /><Relationship Type="http://schemas.openxmlformats.org/officeDocument/2006/relationships/slide" Target="/ppt/slides/slide1.xml" Id="R31797b093ec84e8e" /><Relationship Type="http://schemas.openxmlformats.org/officeDocument/2006/relationships/slide" Target="/ppt/slides/slide2.xml" Id="R8dfa751e4a434038" /><Relationship Type="http://schemas.openxmlformats.org/officeDocument/2006/relationships/slide" Target="/ppt/slides/slide3.xml" Id="R405f5dca43d94374" /><Relationship Type="http://schemas.openxmlformats.org/officeDocument/2006/relationships/slide" Target="/ppt/slides/slide4.xml" Id="Rb027dfe14f0342fe" /><Relationship Type="http://schemas.openxmlformats.org/officeDocument/2006/relationships/slide" Target="/ppt/slides/slide5.xml" Id="R6fcf3a62cddf478c" /><Relationship Type="http://schemas.openxmlformats.org/officeDocument/2006/relationships/slide" Target="/ppt/slides/slide6.xml" Id="Rb783f76e459c45a9" /><Relationship Type="http://schemas.openxmlformats.org/officeDocument/2006/relationships/slide" Target="/ppt/slides/slide7.xml" Id="R19042d9a1ce04d60" /><Relationship Type="http://schemas.openxmlformats.org/officeDocument/2006/relationships/slide" Target="/ppt/slides/slide8.xml" Id="R9e5fc5e4b2f147b7" /><Relationship Type="http://schemas.openxmlformats.org/officeDocument/2006/relationships/slide" Target="/ppt/slides/slide9.xml" Id="Rc358a473e9c54a89" /><Relationship Type="http://schemas.openxmlformats.org/officeDocument/2006/relationships/slide" Target="/ppt/slides/slide10.xml" Id="R8cf7d75a03b142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b378c95a274e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7381333d7c448b" /><Relationship Type="http://schemas.openxmlformats.org/officeDocument/2006/relationships/notesMaster" Target="/ppt/notesMasters/notesMaster1.xml" Id="Raa6b412a1b9c4a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9c6bc0ae414a39" /><Relationship Type="http://schemas.openxmlformats.org/officeDocument/2006/relationships/notesMaster" Target="/ppt/notesMasters/notesMaster1.xml" Id="Rc696743f1d424b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f9e026d90d4192" /><Relationship Type="http://schemas.openxmlformats.org/officeDocument/2006/relationships/notesMaster" Target="/ppt/notesMasters/notesMaster1.xml" Id="R341b7c51e0134f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66581bd64241bf" /><Relationship Type="http://schemas.openxmlformats.org/officeDocument/2006/relationships/notesMaster" Target="/ppt/notesMasters/notesMaster1.xml" Id="R3b77b2f07c534b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5ae35370ca4d7a" /><Relationship Type="http://schemas.openxmlformats.org/officeDocument/2006/relationships/notesMaster" Target="/ppt/notesMasters/notesMaster1.xml" Id="Re674de41b6c74f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dd338e74c04b6c" /><Relationship Type="http://schemas.openxmlformats.org/officeDocument/2006/relationships/notesMaster" Target="/ppt/notesMasters/notesMaster1.xml" Id="R16b65ddd6bf947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88ad8682f84c8c" /><Relationship Type="http://schemas.openxmlformats.org/officeDocument/2006/relationships/notesMaster" Target="/ppt/notesMasters/notesMaster1.xml" Id="Rb0de4205af5042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cb69058dd34ecd" /><Relationship Type="http://schemas.openxmlformats.org/officeDocument/2006/relationships/notesMaster" Target="/ppt/notesMasters/notesMaster1.xml" Id="R8f202d84f9ac47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c06e1186b04b4c" /><Relationship Type="http://schemas.openxmlformats.org/officeDocument/2006/relationships/notesMaster" Target="/ppt/notesMasters/notesMaster1.xml" Id="R2b9c9f01ec534f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05ba8318e34e92" /><Relationship Type="http://schemas.openxmlformats.org/officeDocument/2006/relationships/notesMaster" Target="/ppt/notesMasters/notesMaster1.xml" Id="R47924cee4f3345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caso académico de un minimarket de referencia y el desarrollo individual. Fuente: guía PR 2026 04 Lenguaje de Programación II (5484), páginas 1 y 2. Completar los datos de la sección y validar la modalidad con el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escenario representa una tienda pequeña y que el diagnóstico específico debe validarse. Los módulos cubren los mínimos de la página 2 de la guía. No afirmar reducciones de pérdidas o tiempos que no se hayan medido.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semanas 11 y 14 de la guía, página 4. Los plazos son relativos al calendario de clase. La guía exige 50 % de avance en semana 11 y 100 % en semana 14. Explicar cómo se comprobará cada entrega.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Corresponde a SecurityConfig y a las rutas del proyecto. El rol se comprueba en el servidor y no solo ocultando enlaces. Explicar que el cierre de sesión invalida JSESSIONID y que la sesión vence después de 30 minutos de inactividad.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MVC y la diferencia entre JPA e Hibernate. Código: paquetes model, web, service, repository y resources/templates. Spring Boot es la forma elegida de configurar Spring para este proyecto Java. MySQL es la base prevista para la entrega.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principal: VentaService.registrar, con @Transactional y productos.bloquearPorId. Las cantidades repetidas se suman antes de validar. El usuario de la venta proviene de la sesión. Los precios y totales se calculan en el servidor con BigDecimal.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Datos ficticios de V2__datos_demostracion.sql. Ejecutar la venta en demo o MySQL recién inicializado. Total: 2 por 4.50 más 1 por 2.00 igual a 11.00 soles. Luego intentar vender 51 unidades de agua y comprobar que falla sin guardar datos parciales.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Corresponde a ConsultaController, ConsultaService, ReporteController y ReporteService. Mostrar los mismos filtros en pantalla y en PDF. Los diseños se compilan y completan con JasperReports 7.0.3. El administrador descarga los reportes.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clase ProyectoIntegrationTest contiene 17 pruebas automatizadas con H2 en modo MySQL. Comprobar el resultado real de mvn verify antes de presentarlo. El checklist manual exige MySQL real y Azure. No presentar el resultado H2 como certificación del despliegue.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paquete incluye .github/workflows/ci-azure.yml y AZURE_Y_GITHUB.md. La publicación real se debe completar en la cuenta del estudiante. Microsoft recomienda OIDC para GitHub Actions: https://learn.microsoft.com/en-us/azure/app-service/deploy-github-actions. Mostrar repositorio, commit, URL Azure y ejecución de Actions una vez obtenidos. La guía pide video de 3 a 5 minutos y sustentación presencial o en clase, página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317bbbd88b41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162b99ea664072" /><Relationship Type="http://schemas.openxmlformats.org/officeDocument/2006/relationships/slideLayout" Target="/ppt/slideLayouts/slideLayout1.xml" Id="R86cabc03874c43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cabc03874c43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9a14c4de343cf" /><Relationship Type="http://schemas.openxmlformats.org/officeDocument/2006/relationships/notesSlide" Target="/ppt/notesSlides/notesSlide1.xml" Id="R86b8c9eea7bc45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864decc284661" /><Relationship Type="http://schemas.openxmlformats.org/officeDocument/2006/relationships/notesSlide" Target="/ppt/notesSlides/notesSlide2.xml" Id="R21806bd7222246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8cc7c874149a7" /><Relationship Type="http://schemas.openxmlformats.org/officeDocument/2006/relationships/notesSlide" Target="/ppt/notesSlides/notesSlide3.xml" Id="R6fba9b2163a540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2a42f56314a3b" /><Relationship Type="http://schemas.openxmlformats.org/officeDocument/2006/relationships/notesSlide" Target="/ppt/notesSlides/notesSlide4.xml" Id="Rbdc52c3503fd40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136c07d28432a" /><Relationship Type="http://schemas.openxmlformats.org/officeDocument/2006/relationships/notesSlide" Target="/ppt/notesSlides/notesSlide5.xml" Id="R02aa58c51d8c48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238180814477f" /><Relationship Type="http://schemas.openxmlformats.org/officeDocument/2006/relationships/notesSlide" Target="/ppt/notesSlides/notesSlide6.xml" Id="R154e4d1f02644b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0eab160e04a30" /><Relationship Type="http://schemas.openxmlformats.org/officeDocument/2006/relationships/notesSlide" Target="/ppt/notesSlides/notesSlide7.xml" Id="Rf64c010d11224d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67646087f4067" /><Relationship Type="http://schemas.openxmlformats.org/officeDocument/2006/relationships/notesSlide" Target="/ppt/notesSlides/notesSlide8.xml" Id="R293b81268f5649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2d08710904550" /><Relationship Type="http://schemas.openxmlformats.org/officeDocument/2006/relationships/notesSlide" Target="/ppt/notesSlides/notesSlide9.xml" Id="R311e4917785449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cafab7c014433" /><Relationship Type="http://schemas.openxmlformats.org/officeDocument/2006/relationships/notesSlide" Target="/ppt/notesSlides/notesSlide10.xml" Id="Ra42aa6ebf8e747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995AF-399D-49A2-97AD-5C874D3F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Sistema web de ventas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 inventario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2CF45-B97C-4761-B507-2E08D0E2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B8DBCA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B8DBCA"/>
                </a:solidFill>
                <a:latin typeface="DejaVu Sans"/>
                <a:ea typeface="DejaVu Sans"/>
                <a:cs typeface="DejaVu Sans"/>
              </a:rPr>
              <a:t>Minimarket LP2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A2B75-EAB1-490E-94C7-2DFAA9DE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Angel Daniel Pintado Nizama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Lenguaje de Programación II 5484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Cibertec 2026</a:t>
            </a:r>
          </a:p>
        </p:txBody>
      </p:sp>
    </p:spTree>
    <p:extLst>
      <p:ext uri="{BB962C8B-B14F-4D97-AF65-F5344CB8AC3E}">
        <p14:creationId xmlns:p14="http://schemas.microsoft.com/office/powerpoint/2010/main" val="16006163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30319-C269-4273-9B24-A84A71C7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Problema y alcance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EE2E6-CDE3-41D4-AB0D-1A558DE1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B6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16B61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C07AA-0DAD-4898-9247-89DF7226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Un registro separado de ventas y existencias dificulta conocer el stock disponible y reconstruir una operación.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66700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20090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Tipo de caso de uso</a:t>
                      </a:r>
                    </a:p>
                  </a:txBody>
                  <a:tcPr marL="91440" marR="91440" marT="45720" marB="45720">
                    <a:solidFill>
                      <a:srgbClr val="123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Funciones</a:t>
                      </a:r>
                    </a:p>
                  </a:txBody>
                  <a:tcPr marL="91440" marR="91440" marT="45720" marB="45720">
                    <a:solidFill>
                      <a:srgbClr val="123E36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mantenimientos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Categorías, productos y clientes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consultas</a:t>
                      </a:r>
                    </a:p>
                  </a:txBody>
                  <a:tcPr marL="91440" marR="91440" marT="45720" marB="45720">
                    <a:solidFill>
                      <a:srgbClr val="F0F5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Ventas por fechas y cliente, inventario</a:t>
                      </a:r>
                    </a:p>
                  </a:txBody>
                  <a:tcPr marL="91440" marR="91440" marT="45720" marB="45720">
                    <a:solidFill>
                      <a:srgbClr val="F0F5F1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reportes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Ventas e inventario en PDF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transacción</a:t>
                      </a:r>
                    </a:p>
                  </a:txBody>
                  <a:tcPr marL="91440" marR="91440" marT="45720" marB="45720">
                    <a:solidFill>
                      <a:srgbClr val="F0F5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Venta con detalle y descuento de stock</a:t>
                      </a:r>
                    </a:p>
                  </a:txBody>
                  <a:tcPr marL="91440" marR="91440" marT="45720" marB="45720">
                    <a:solidFill>
                      <a:srgbClr val="F0F5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9846B-4BAA-41B8-9E11-C0FF12B5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16B6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16B61"/>
                </a:solidFill>
                <a:latin typeface="DejaVu Sans"/>
                <a:ea typeface="DejaVu Sans"/>
                <a:cs typeface="DejaVu Sans"/>
              </a:rPr>
              <a:t>Una tienda, importes en soles y cantidades enteras</a:t>
            </a:r>
          </a:p>
        </p:txBody>
      </p:sp>
    </p:spTree>
    <p:extLst>
      <p:ext uri="{BB962C8B-B14F-4D97-AF65-F5344CB8AC3E}">
        <p14:creationId xmlns:p14="http://schemas.microsoft.com/office/powerpoint/2010/main" val="1619613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3A65A-CA7B-4EA5-81A2-B6E3B7A3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Objetivos y entregas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E248C-6A34-431A-8122-092EA198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B6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16B61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FE3E2-1BC8-4AA1-A2E7-0C1F33E3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E36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23E36"/>
                </a:solidFill>
                <a:latin typeface="DejaVu Sans"/>
                <a:ea typeface="DejaVu Sans"/>
                <a:cs typeface="DejaVu Sans"/>
              </a:rPr>
              <a:t>Semana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4C7BF-0723-4006-8486-316F9E3F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Análisis y modelo de datos, acceso por roles y los tres mantenimientos funcionando en MySQL.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5E962-6282-48C8-898E-BCDB2741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E36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23E36"/>
                </a:solidFill>
                <a:latin typeface="DejaVu Sans"/>
                <a:ea typeface="DejaVu Sans"/>
                <a:cs typeface="DejaVu Sans"/>
              </a:rPr>
              <a:t>Semana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495A7-7393-4930-9244-E5BB8DAE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Venta transaccional, consultas y PDF. Verificación completa, GitHub, Azure y evidencia para la sustentación.</a:t>
            </a:r>
          </a:p>
        </p:txBody>
      </p:sp>
    </p:spTree>
    <p:extLst>
      <p:ext uri="{BB962C8B-B14F-4D97-AF65-F5344CB8AC3E}">
        <p14:creationId xmlns:p14="http://schemas.microsoft.com/office/powerpoint/2010/main" val="437318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73AF7-379F-4B7B-9A83-BD0F599D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Roles y sesiones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E923B-B850-42AD-8CEC-16D286AC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B6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16B61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248400"/>
                <a:gridCol w="2286000"/>
                <a:gridCol w="2286000"/>
              </a:tblGrid>
              <a:tr h="635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Función</a:t>
                      </a:r>
                    </a:p>
                  </a:txBody>
                  <a:tcPr marL="91440" marR="91440" marT="45720" marB="45720">
                    <a:solidFill>
                      <a:srgbClr val="123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Administrador</a:t>
                      </a:r>
                    </a:p>
                  </a:txBody>
                  <a:tcPr marL="91440" marR="91440" marT="45720" marB="45720">
                    <a:solidFill>
                      <a:srgbClr val="123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Vendedor</a:t>
                      </a:r>
                    </a:p>
                  </a:txBody>
                  <a:tcPr marL="91440" marR="91440" marT="45720" marB="45720">
                    <a:solidFill>
                      <a:srgbClr val="123E36"/>
                    </a:solidFill>
                  </a:tcPr>
                </a:tc>
              </a:tr>
              <a:tr h="635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Categorías y productos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Clientes</a:t>
                      </a:r>
                    </a:p>
                  </a:txBody>
                  <a:tcPr marL="91440" marR="91440" marT="45720" marB="45720">
                    <a:solidFill>
                      <a:srgbClr val="F0F5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Sí</a:t>
                      </a:r>
                    </a:p>
                  </a:txBody>
                  <a:tcPr marL="91440" marR="91440" marT="45720" marB="45720">
                    <a:solidFill>
                      <a:srgbClr val="F0F5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Sí</a:t>
                      </a:r>
                    </a:p>
                  </a:txBody>
                  <a:tcPr marL="91440" marR="91440" marT="45720" marB="45720">
                    <a:solidFill>
                      <a:srgbClr val="F0F5F1"/>
                    </a:solidFill>
                  </a:tcPr>
                </a:tc>
              </a:tr>
              <a:tr h="635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Registrar ventas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Consultar ventas e inventario</a:t>
                      </a:r>
                    </a:p>
                  </a:txBody>
                  <a:tcPr marL="91440" marR="91440" marT="45720" marB="45720">
                    <a:solidFill>
                      <a:srgbClr val="F0F5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Sí</a:t>
                      </a:r>
                    </a:p>
                  </a:txBody>
                  <a:tcPr marL="91440" marR="91440" marT="45720" marB="45720">
                    <a:solidFill>
                      <a:srgbClr val="F0F5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Sí</a:t>
                      </a:r>
                    </a:p>
                  </a:txBody>
                  <a:tcPr marL="91440" marR="91440" marT="45720" marB="45720">
                    <a:solidFill>
                      <a:srgbClr val="F0F5F1"/>
                    </a:solidFill>
                  </a:tcPr>
                </a:tc>
              </a:tr>
              <a:tr h="635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Descargar reportes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C6FC0-CC74-4015-9080-0D46EC39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16B6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16B61"/>
                </a:solidFill>
                <a:latin typeface="DejaVu Sans"/>
                <a:ea typeface="DejaVu Sans"/>
                <a:cs typeface="DejaVu Sans"/>
              </a:rPr>
              <a:t>Sesión de 30 minutos de inactividad. Contraseñas con BCrypt.</a:t>
            </a:r>
          </a:p>
        </p:txBody>
      </p:sp>
    </p:spTree>
    <p:extLst>
      <p:ext uri="{BB962C8B-B14F-4D97-AF65-F5344CB8AC3E}">
        <p14:creationId xmlns:p14="http://schemas.microsoft.com/office/powerpoint/2010/main" val="3622944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52E73-494D-4FE2-8C74-2CAEF896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Arquitectura de la aplicación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B014E-346B-4B16-AC5F-51F4645D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B6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16B61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000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7581900"/>
              </a:tblGrid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Parte</a:t>
                      </a:r>
                    </a:p>
                  </a:txBody>
                  <a:tcPr marL="91440" marR="91440" marT="45720" marB="45720">
                    <a:solidFill>
                      <a:srgbClr val="123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Responsabilidad</a:t>
                      </a:r>
                    </a:p>
                  </a:txBody>
                  <a:tcPr marL="91440" marR="91440" marT="45720" marB="45720">
                    <a:solidFill>
                      <a:srgbClr val="123E36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Vistas y controladores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Thymeleaf y Spring MVC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Servicios</a:t>
                      </a:r>
                    </a:p>
                  </a:txBody>
                  <a:tcPr marL="91440" marR="91440" marT="45720" marB="45720">
                    <a:solidFill>
                      <a:srgbClr val="F0F5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Validaciones, reglas de venta y reportes</a:t>
                      </a:r>
                    </a:p>
                  </a:txBody>
                  <a:tcPr marL="91440" marR="91440" marT="45720" marB="45720">
                    <a:solidFill>
                      <a:srgbClr val="F0F5F1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Persistencia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Repositorios JPA e implementación Hibernate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 de datos</a:t>
                      </a:r>
                    </a:p>
                  </a:txBody>
                  <a:tcPr marL="91440" marR="91440" marT="45720" marB="45720">
                    <a:solidFill>
                      <a:srgbClr val="F0F5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MySQL con migraciones Flyway</a:t>
                      </a:r>
                    </a:p>
                  </a:txBody>
                  <a:tcPr marL="91440" marR="91440" marT="45720" marB="45720">
                    <a:solidFill>
                      <a:srgbClr val="F0F5F1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5510F-1057-4595-8491-CBE6F545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Seis entidades: categoría, producto, cliente, usuario, venta y detalle de venta.</a:t>
            </a:r>
          </a:p>
        </p:txBody>
      </p:sp>
    </p:spTree>
    <p:extLst>
      <p:ext uri="{BB962C8B-B14F-4D97-AF65-F5344CB8AC3E}">
        <p14:creationId xmlns:p14="http://schemas.microsoft.com/office/powerpoint/2010/main" val="2088855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1B984-4C54-4252-9604-3C1F28FE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Registro de una venta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229FF-D16D-4412-AE00-8F73E969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B6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16B61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18944-D704-4D06-8DFE-16470D74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1  Validar cliente, productos y cantidades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12ABF-4D0E-4A7A-94F2-58535DA3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2  Bloquear el stock y calcular los importes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19E39-BFA7-429F-910A-1CE1A408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3  Guardar cabecera, detalle y stock juntos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3FD6D-D7EA-460A-A4F2-C7D27BFF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4  Revertir toda la operación cuando falla una regla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D1618-2759-4FCD-92F7-97ED124A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16B6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16B61"/>
                </a:solidFill>
                <a:latin typeface="DejaVu Sans"/>
                <a:ea typeface="DejaVu Sans"/>
                <a:cs typeface="DejaVu Sans"/>
              </a:rPr>
              <a:t>El token único evita confirmar dos veces el mismo formulario.</a:t>
            </a:r>
          </a:p>
        </p:txBody>
      </p:sp>
    </p:spTree>
    <p:extLst>
      <p:ext uri="{BB962C8B-B14F-4D97-AF65-F5344CB8AC3E}">
        <p14:creationId xmlns:p14="http://schemas.microsoft.com/office/powerpoint/2010/main" val="1412331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6FEEC-B85B-42BA-BC74-7FDF6A9B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Ejemplo de venta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D37FD-ABD6-45DC-B1DB-821B2FCE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B6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16B61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2286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857750"/>
                <a:gridCol w="1714500"/>
                <a:gridCol w="2124075"/>
                <a:gridCol w="2124075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Producto</a:t>
                      </a:r>
                    </a:p>
                  </a:txBody>
                  <a:tcPr marL="91440" marR="91440" marT="45720" marB="45720">
                    <a:solidFill>
                      <a:srgbClr val="123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Cantidad</a:t>
                      </a:r>
                    </a:p>
                  </a:txBody>
                  <a:tcPr marL="91440" marR="91440" marT="45720" marB="45720">
                    <a:solidFill>
                      <a:srgbClr val="123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Precio S/</a:t>
                      </a:r>
                    </a:p>
                  </a:txBody>
                  <a:tcPr marL="91440" marR="91440" marT="45720" marB="45720">
                    <a:solidFill>
                      <a:srgbClr val="123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Subtotal S/</a:t>
                      </a:r>
                    </a:p>
                  </a:txBody>
                  <a:tcPr marL="91440" marR="91440" marT="45720" marB="45720">
                    <a:solidFill>
                      <a:srgbClr val="123E36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Arroz 1 kg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Agua 625 ml</a:t>
                      </a:r>
                    </a:p>
                  </a:txBody>
                  <a:tcPr marL="91440" marR="91440" marT="45720" marB="45720">
                    <a:solidFill>
                      <a:srgbClr val="F0F5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0F5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2.00</a:t>
                      </a:r>
                    </a:p>
                  </a:txBody>
                  <a:tcPr marL="91440" marR="91440" marT="45720" marB="45720">
                    <a:solidFill>
                      <a:srgbClr val="F0F5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2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2.00</a:t>
                      </a:r>
                    </a:p>
                  </a:txBody>
                  <a:tcPr marL="91440" marR="91440" marT="45720" marB="45720">
                    <a:solidFill>
                      <a:srgbClr val="F0F5F1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31F7F-3354-4E0A-8336-564E0339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E36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23E36"/>
                </a:solidFill>
                <a:latin typeface="DejaVu Sans"/>
                <a:ea typeface="DejaVu Sans"/>
                <a:cs typeface="DejaVu Sans"/>
              </a:rPr>
              <a:t>Total S/ 11.00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61773-1D3F-432B-BFBC-0FEF5F05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Stock de arroz: 40 a 38</a:t>
            </a:r>
          </a:p>
          <a:p xmlns:a="http://schemas.openxmlformats.org/drawingml/2006/main">
            <a:pPr>
              <a:defRPr sz="2100" b="0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Stock de agua: 50 a 49</a:t>
            </a:r>
          </a:p>
        </p:txBody>
      </p:sp>
    </p:spTree>
    <p:extLst>
      <p:ext uri="{BB962C8B-B14F-4D97-AF65-F5344CB8AC3E}">
        <p14:creationId xmlns:p14="http://schemas.microsoft.com/office/powerpoint/2010/main" val="6180864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6ECAB-8894-4EDC-9E6C-EDDEF4CC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Consultas y reportes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37D8E-82AF-4DEF-93D3-9A5EA049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B6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16B61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68A4B-8D70-4980-925E-5B428153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3E36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23E36"/>
                </a:solidFill>
                <a:latin typeface="DejaVu Sans"/>
                <a:ea typeface="DejaVu Sans"/>
                <a:cs typeface="DejaVu Sans"/>
              </a:rPr>
              <a:t>Ventas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04439-7AD1-4C45-8601-429ED689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10820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Rango de fechas y cliente. Incluye todas las ventas del último día del rango y calcula el total del período.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15FC3-E23A-4CB2-AC4B-5BC148D0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3E36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23E36"/>
                </a:solidFill>
                <a:latin typeface="DejaVu Sans"/>
                <a:ea typeface="DejaVu Sans"/>
                <a:cs typeface="DejaVu Sans"/>
              </a:rPr>
              <a:t>Inventario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619D7-E08D-4068-B84D-DEA38764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Categoría, código o nombre, y stock bajo. Permite identificar productos para reposición.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048BA-BE47-43EA-A88A-C017ADC8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16B6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16B61"/>
                </a:solidFill>
                <a:latin typeface="DejaVu Sans"/>
                <a:ea typeface="DejaVu Sans"/>
                <a:cs typeface="DejaVu Sans"/>
              </a:rPr>
              <a:t>Cada consulta permite generar su PDF con los mismos filtros.</a:t>
            </a:r>
          </a:p>
        </p:txBody>
      </p:sp>
    </p:spTree>
    <p:extLst>
      <p:ext uri="{BB962C8B-B14F-4D97-AF65-F5344CB8AC3E}">
        <p14:creationId xmlns:p14="http://schemas.microsoft.com/office/powerpoint/2010/main" val="8242701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0AEE1-324E-4470-A88F-DA6A9E1D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Pruebas y criterios de aceptación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CDF45-A428-4568-B7EB-441A0624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B6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16B61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2FA8D-B7E1-4A34-A442-0AF98DE5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E36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23E36"/>
                </a:solidFill>
                <a:latin typeface="DejaVu Sans"/>
                <a:ea typeface="DejaVu Sans"/>
                <a:cs typeface="DejaVu Sans"/>
              </a:rPr>
              <a:t>17 pruebas de integración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322AA-F108-4E45-9466-D5FD3F07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082040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Venta correcta y reversión completa</a:t>
            </a:r>
          </a:p>
          <a:p xmlns:a="http://schemas.openxmlformats.org/drawingml/2006/main">
            <a:pPr>
              <a:defRPr sz="2250" b="0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Cantidades repetidas y ventas concurrentes</a:t>
            </a:r>
          </a:p>
          <a:p xmlns:a="http://schemas.openxmlformats.org/drawingml/2006/main">
            <a:pPr>
              <a:defRPr sz="2250" b="0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Edición antigua de stock, sesión y permisos</a:t>
            </a:r>
          </a:p>
          <a:p xmlns:a="http://schemas.openxmlformats.org/drawingml/2006/main">
            <a:pPr>
              <a:defRPr sz="2250" b="0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PDF con resultados y sin resultados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7B602-0494-4716-B006-F20B2781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16B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516B61"/>
                </a:solidFill>
                <a:latin typeface="DejaVu Sans"/>
                <a:ea typeface="DejaVu Sans"/>
                <a:cs typeface="DejaVu Sans"/>
              </a:rPr>
              <a:t>La aceptación final incluye pruebas manuales en MySQL y funcionamiento real en Azure.</a:t>
            </a:r>
          </a:p>
        </p:txBody>
      </p:sp>
    </p:spTree>
    <p:extLst>
      <p:ext uri="{BB962C8B-B14F-4D97-AF65-F5344CB8AC3E}">
        <p14:creationId xmlns:p14="http://schemas.microsoft.com/office/powerpoint/2010/main" val="2465467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6ECAD-AFFB-496C-92FE-C9116829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Publicación y sustentación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EAD86-97D3-463B-8074-ACA2F3F4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GitHub Actions verifica el código y publica el JAR en Azure cuando la cuenta y las variables están configuradas.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C7A76-62D4-4983-B01B-581088AD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E36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23E36"/>
                </a:solidFill>
                <a:latin typeface="DejaVu Sans"/>
                <a:ea typeface="DejaVu Sans"/>
                <a:cs typeface="DejaVu Sans"/>
              </a:rPr>
              <a:t>Entregables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9C420-5263-47BE-B55B-DFEE7B7B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8204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Código y scripts MySQL</a:t>
            </a:r>
          </a:p>
          <a:p xmlns:a="http://schemas.openxmlformats.org/drawingml/2006/main">
            <a:pPr>
              <a:defRPr sz="2175" b="0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Informe, diagramas y presentación</a:t>
            </a:r>
          </a:p>
          <a:p xmlns:a="http://schemas.openxmlformats.org/drawingml/2006/main">
            <a:pPr>
              <a:defRPr sz="2175" b="0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Repositorio, URL Azure y evidencia de Actions</a:t>
            </a:r>
          </a:p>
          <a:p xmlns:a="http://schemas.openxmlformats.org/drawingml/2006/main">
            <a:pPr>
              <a:defRPr sz="2175" b="0">
                <a:solidFill>
                  <a:srgbClr val="18352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52E"/>
                </a:solidFill>
                <a:latin typeface="DejaVu Sans"/>
                <a:ea typeface="DejaVu Sans"/>
                <a:cs typeface="DejaVu Sans"/>
              </a:rPr>
              <a:t>Video de 3 a 5 minutos</a:t>
            </a:r>
          </a:p>
        </p:txBody>
      </p:sp>
    </p:spTree>
    <p:extLst>
      <p:ext uri="{BB962C8B-B14F-4D97-AF65-F5344CB8AC3E}">
        <p14:creationId xmlns:p14="http://schemas.microsoft.com/office/powerpoint/2010/main" val="1646633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2026-09-30T19:08:36.9400000Z</dcterms:created>
  <dcterms:modified xsi:type="dcterms:W3CDTF">2026-09-30T19:08:36.9400000Z</dcterms:modified>
</coreProperties>
</file>